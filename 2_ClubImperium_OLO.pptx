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0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</p:sldIdLst>
  <p:sldSz cy="6858000" cx="12191675"/>
  <p:notesSz cx="6858000" cy="12191675"/>
  <p:embeddedFontLst>
    <p:embeddedFont>
      <p:font typeface="Play"/>
      <p:regular r:id="rId12"/>
      <p:bold r:id="rId13"/>
    </p:embeddedFont>
    <p:embeddedFont>
      <p:font typeface="Comic Relief"/>
      <p:regular r:id="rId14"/>
      <p:bold r:id="rId1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font" Target="fonts/Play-bold.fntdata"/><Relationship Id="rId12" Type="http://schemas.openxmlformats.org/officeDocument/2006/relationships/font" Target="fonts/Play-regular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font" Target="fonts/ComicRelief-bold.fntdata"/><Relationship Id="rId14" Type="http://schemas.openxmlformats.org/officeDocument/2006/relationships/font" Target="fonts/ComicRelief-regular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" name="Google Shape;15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Introduce OLO as an urban context tool for Warsaw: helping renters and buyers evaluate the city around the flat before making a long-term commitment.</a:t>
            </a:r>
            <a:endParaRPr/>
          </a:p>
        </p:txBody>
      </p:sp>
      <p:sp>
        <p:nvSpPr>
          <p:cNvPr id="16" name="Google Shape;16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" name="Google Shape;24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Frame the core dilemma: floor plans and square meters are only half the decision; daily mobility and nearby infrastructure dictate quality of life.</a:t>
            </a:r>
            <a:endParaRPr/>
          </a:p>
        </p:txBody>
      </p:sp>
      <p:sp>
        <p:nvSpPr>
          <p:cNvPr id="25" name="Google Shape;25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" name="Google Shape;29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Walk through the basic user journey: entering an exact Warsaw address, selecting an active distance buffer, and immediately inspecting the neighborhood layer.</a:t>
            </a:r>
            <a:endParaRPr/>
          </a:p>
        </p:txBody>
      </p:sp>
      <p:sp>
        <p:nvSpPr>
          <p:cNvPr id="30" name="Google Shape;30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" name="Google Shape;35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Present the 6 core neighborhood categories OLO tracks around each address, letting the user immediately evaluate essentials.</a:t>
            </a:r>
            <a:endParaRPr/>
          </a:p>
        </p:txBody>
      </p:sp>
      <p:sp>
        <p:nvSpPr>
          <p:cNvPr id="36" name="Google Shape;36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" name="Google Shape;41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Emphasize methodological honesty: OLO relies on official open datasets, notes coverage constraints, and keeps metrics directly inspectable.</a:t>
            </a:r>
            <a:endParaRPr/>
          </a:p>
        </p:txBody>
      </p:sp>
      <p:sp>
        <p:nvSpPr>
          <p:cNvPr id="42" name="Google Shape;42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8" name="Google Shape;48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Close the presentation with an invitation to test the prototype, scan the QR code, and explore Warsaw neighborhoods firsthand.</a:t>
            </a:r>
            <a:endParaRPr/>
          </a:p>
        </p:txBody>
      </p:sp>
      <p:sp>
        <p:nvSpPr>
          <p:cNvPr id="49" name="Google Shape;49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4" name="Google Shape;54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Demonstrate the address comparison capability: placing two candidate listings against each other to clarify trade-offs in access and amenities.</a:t>
            </a:r>
            <a:endParaRPr/>
          </a:p>
        </p:txBody>
      </p:sp>
      <p:sp>
        <p:nvSpPr>
          <p:cNvPr id="55" name="Google Shape;55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master 1">
  <p:cSld name="Slide master 1">
    <p:bg>
      <p:bgPr>
        <a:solidFill>
          <a:srgbClr val="EEF0EA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1" name="Google Shape;11;p2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76875" y="6558991"/>
            <a:ext cx="1071843" cy="2560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7.png"/><Relationship Id="rId4" Type="http://schemas.openxmlformats.org/officeDocument/2006/relationships/image" Target="../media/image4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8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C7478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/>
          <p:nvPr/>
        </p:nvSpPr>
        <p:spPr>
          <a:xfrm>
            <a:off x="1723560" y="1261719"/>
            <a:ext cx="4394100" cy="89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800"/>
              <a:buFont typeface="Play"/>
              <a:buNone/>
            </a:pPr>
            <a:r>
              <a:rPr lang="en-US" sz="7800">
                <a:latin typeface="Play"/>
                <a:ea typeface="Play"/>
                <a:cs typeface="Play"/>
                <a:sym typeface="Play"/>
              </a:rPr>
              <a:t>OlO</a:t>
            </a:r>
            <a:endParaRPr b="0" i="0" sz="7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9" name="Google Shape;19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43508" y="1"/>
            <a:ext cx="4448117" cy="6858014"/>
          </a:xfrm>
          <a:prstGeom prst="rect">
            <a:avLst/>
          </a:prstGeom>
          <a:solidFill>
            <a:srgbClr val="EEF0EA"/>
          </a:solidFill>
          <a:ln cap="flat" cmpd="sng" w="9525">
            <a:solidFill>
              <a:srgbClr val="4F6B80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20" name="Google Shape;20;p4" title="image_22c0c2a9.jp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2634275"/>
            <a:ext cx="7743504" cy="4223729"/>
          </a:xfrm>
          <a:prstGeom prst="rect">
            <a:avLst/>
          </a:prstGeom>
          <a:noFill/>
          <a:ln>
            <a:noFill/>
          </a:ln>
        </p:spPr>
      </p:pic>
      <p:sp>
        <p:nvSpPr>
          <p:cNvPr id="21" name="Google Shape;21;p4"/>
          <p:cNvSpPr txBox="1"/>
          <p:nvPr/>
        </p:nvSpPr>
        <p:spPr>
          <a:xfrm>
            <a:off x="1049738" y="2089238"/>
            <a:ext cx="5741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latin typeface="Comic Relief"/>
                <a:ea typeface="Comic Relief"/>
                <a:cs typeface="Comic Relief"/>
                <a:sym typeface="Comic Relief"/>
              </a:rPr>
              <a:t>By</a:t>
            </a:r>
            <a:endParaRPr b="1" sz="1800">
              <a:latin typeface="Comic Relief"/>
              <a:ea typeface="Comic Relief"/>
              <a:cs typeface="Comic Relief"/>
              <a:sym typeface="Comic Relief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C7478"/>
        </a:solidFill>
      </p:bgPr>
    </p:bg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C7478"/>
        </a:solidFill>
      </p:bgPr>
    </p:bg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Google Shape;32;p6"/>
          <p:cNvPicPr preferRelativeResize="0"/>
          <p:nvPr/>
        </p:nvPicPr>
        <p:blipFill rotWithShape="1">
          <a:blip r:embed="rId3">
            <a:alphaModFix/>
          </a:blip>
          <a:srcRect b="0" l="0" r="4132" t="0"/>
          <a:stretch/>
        </p:blipFill>
        <p:spPr>
          <a:xfrm>
            <a:off x="2972238" y="523875"/>
            <a:ext cx="6247201" cy="5810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C7478"/>
        </a:solidFill>
      </p:bgPr>
    </p:bg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" name="Google Shape;38;p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76000" y="834750"/>
            <a:ext cx="5639674" cy="5188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C7478"/>
        </a:solidFill>
      </p:bgPr>
    </p:bg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" name="Google Shape;44;p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47675" y="0"/>
            <a:ext cx="9144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8"/>
          <p:cNvSpPr/>
          <p:nvPr/>
        </p:nvSpPr>
        <p:spPr>
          <a:xfrm>
            <a:off x="5079200" y="1843050"/>
            <a:ext cx="1403700" cy="2807400"/>
          </a:xfrm>
          <a:prstGeom prst="rect">
            <a:avLst/>
          </a:prstGeom>
          <a:solidFill>
            <a:srgbClr val="1F6E6A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C7478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" name="Google Shape;51;p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76000" y="1284075"/>
            <a:ext cx="5639676" cy="428985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C7478"/>
        </a:solidFill>
      </p:bgPr>
    </p:bg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" name="Google Shape;57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19238" y="152400"/>
            <a:ext cx="6553200" cy="6553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